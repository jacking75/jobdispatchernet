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3" autoAdjust="0"/>
    <p:restoredTop sz="90009" autoAdjust="0"/>
  </p:normalViewPr>
  <p:slideViewPr>
    <p:cSldViewPr snapToGrid="0" snapToObjects="1">
      <p:cViewPr varScale="1">
        <p:scale>
          <a:sx n="175" d="100"/>
          <a:sy n="175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58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200400"/>
            <a:ext cx="2011680" cy="20116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서버 개발자를 위한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JobDispatcherNET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완전 정복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5029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0C4DE"/>
                </a:solidFill>
              </a:rPr>
              <a:t>lock 없이도 안전한 게임 서버를 만드는 방법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1371600" cy="36576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Actor 모델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4023360"/>
            <a:ext cx="1371600" cy="365760"/>
          </a:xfrm>
          <a:prstGeom prst="rect">
            <a:avLst/>
          </a:prstGeom>
          <a:solidFill>
            <a:srgbClr val="F77F00">
              <a:alpha val="2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</a:rPr>
              <a:t>직렬 실행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4023360"/>
            <a:ext cx="1371600" cy="36576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고성능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4023360"/>
            <a:ext cx="1371600" cy="365760"/>
          </a:xfrm>
          <a:prstGeom prst="rect">
            <a:avLst/>
          </a:prstGeom>
          <a:solidFill>
            <a:srgbClr val="9B5DE5">
              <a:alpha val="2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DE5"/>
                </a:solidFill>
              </a:rPr>
              <a:t>초보자 친화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오늘의 내용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13개 챕터로 배우는 JobDispatcherNET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87452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69848"/>
            <a:ext cx="64008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개념 이해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멀티스레딩 문제 &amp; 왜 Actor 모델?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직렬 실행의 마법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AsyncExecutable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51960" cy="187452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91440" cy="18745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069848"/>
            <a:ext cx="640080" cy="2743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69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내부 구조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5192" y="1435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JobEntry &amp; 오브젝트 풀링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5192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TimerQueue &amp; 타이머 메커니즘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5192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JobDispatcher &amp; IRunnable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Sequencer &amp; 설정/메트릭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4251960" cy="187452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91440" cy="18745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81528"/>
            <a:ext cx="64008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예제 분석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ExampleConsoleApp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ExampleChatServer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4087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ExampleMmorpgServer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AdvancedMmorpgServer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4251960" cy="187452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71800"/>
            <a:ext cx="91440" cy="18745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3081528"/>
            <a:ext cx="64008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65192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패턴 &amp; 모범 사례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함정 &amp; 해결책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65192" y="4087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›  성능 체크리스트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10972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개념 이해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606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멀티스레딩 문제와 Actor 모델로의 여정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 Condition — 왜 문제인가?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멀티스레딩의 함정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4114800" cy="31089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49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868680"/>
            <a:ext cx="3931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int Hp { get; set;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void TakeDamage(int dmg)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Hp -= dmg; // ← 사실 3단계!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(Hp &lt;= 0) Die();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640080"/>
            <a:ext cx="4206240" cy="3108960"/>
          </a:xfrm>
          <a:prstGeom prst="rect">
            <a:avLst/>
          </a:prstGeom>
          <a:solidFill>
            <a:srgbClr val="1B2F44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685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🔴  실행 타임라인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914400" cy="82296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51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Thread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(몬스터1)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0" y="1143000"/>
            <a:ext cx="1828800" cy="64008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Hp 읽기(100)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Hp 쓰기(70)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914400" cy="822960"/>
          </a:xfrm>
          <a:prstGeom prst="rect">
            <a:avLst/>
          </a:prstGeom>
          <a:solidFill>
            <a:srgbClr val="F77F00">
              <a:alpha val="3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7F00"/>
                </a:solidFill>
              </a:rPr>
              <a:t>Thread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77F00"/>
                </a:solidFill>
              </a:rPr>
              <a:t>(몬스터2)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1828800" cy="640080"/>
          </a:xfrm>
          <a:prstGeom prst="rect">
            <a:avLst/>
          </a:prstGeom>
          <a:solidFill>
            <a:srgbClr val="F77F00">
              <a:alpha val="5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Hp 읽기(100)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8076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Hp 쓰기(50)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14800" cy="548640"/>
          </a:xfrm>
          <a:prstGeom prst="rect">
            <a:avLst/>
          </a:prstGeom>
          <a:solidFill>
            <a:srgbClr val="3D000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63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💥  최종 HP = 50  (기대값: 20,  몬스터1의 30 데미지 증발!)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8595360" cy="640080"/>
          </a:xfrm>
          <a:prstGeom prst="rect">
            <a:avLst/>
          </a:prstGeom>
          <a:solidFill>
            <a:srgbClr val="1A10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587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7F00"/>
                </a:solidFill>
              </a:rPr>
              <a:t>⚠️   이것이 Race Condition — 두 스레드가 동시에 같은 데이터를 읽고 쓰면 결과가 예측 불가능해집니다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lock으로 해결?  → 또 다른 문제들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전통적 해결책의 한계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3931920" cy="301752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685800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949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" y="91440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lock으로 보호하면: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(_lockObj)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Hp -= dmg;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(Hp &lt;= 0) Die();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그런데 다른 곳에서도 필요?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(_lockObj) { ...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(_lockObj) { ...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실수로 빠뜨리면? → 버그!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731520"/>
            <a:ext cx="2240280" cy="1645920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731520"/>
            <a:ext cx="2240280" cy="320040"/>
          </a:xfrm>
          <a:prstGeom prst="rect">
            <a:avLst/>
          </a:prstGeom>
          <a:solidFill>
            <a:srgbClr val="F77F00">
              <a:alpha val="3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758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🐌 성능 저하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1155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스레드가 순서 대기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(대기 시간 낭비)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731520"/>
            <a:ext cx="2240280" cy="1645920"/>
          </a:xfrm>
          <a:prstGeom prst="rect">
            <a:avLst/>
          </a:prstGeom>
          <a:solidFill>
            <a:srgbClr val="1B2F44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731520"/>
            <a:ext cx="2240280" cy="320040"/>
          </a:xfrm>
          <a:prstGeom prst="rect">
            <a:avLst/>
          </a:prstGeom>
          <a:solidFill>
            <a:srgbClr val="E63946">
              <a:alpha val="3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758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💀 데드락 위험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1155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A→B 대기, B→A 대기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= 영구 멈춤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2560320"/>
            <a:ext cx="2240280" cy="1645920"/>
          </a:xfrm>
          <a:prstGeom prst="rect">
            <a:avLst/>
          </a:prstGeom>
          <a:solidFill>
            <a:srgbClr val="1B2F44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2560320"/>
            <a:ext cx="2240280" cy="320040"/>
          </a:xfrm>
          <a:prstGeom prst="rect">
            <a:avLst/>
          </a:prstGeom>
          <a:solidFill>
            <a:srgbClr val="9B5DE5">
              <a:alpha val="3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5877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🧩 코드 복잡성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9443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모든 shared state에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lock 필요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2560320"/>
            <a:ext cx="2240280" cy="164592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2560320"/>
            <a:ext cx="2240280" cy="32004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5877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🐛 실수하기 쉬움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294436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lock 빠뜨리면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즉시 Race Condition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858768"/>
            <a:ext cx="8686800" cy="64008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✨  더 나은 방법이 필요합니다 — 바로 Actor 모델!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 모델 — 철학의 전환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공유 상태 대신 메시지로 소통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114800" cy="374904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❌  기존 방법 (공유 상태)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1645920" cy="731520"/>
          </a:xfrm>
          <a:prstGeom prst="rect">
            <a:avLst/>
          </a:prstGeom>
          <a:solidFill>
            <a:srgbClr val="3D0000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</a:rPr>
              <a:t>Player._hp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1389888"/>
            <a:ext cx="0" cy="1719072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182880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2029968"/>
            <a:ext cx="0" cy="1078992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" y="237744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63040" y="2578608"/>
            <a:ext cx="0" cy="530352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1148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77F00"/>
                </a:solidFill>
              </a:rPr>
              <a:t>⚠️  Race Condition!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685800"/>
            <a:ext cx="4297680" cy="3749040"/>
          </a:xfrm>
          <a:prstGeom prst="rect">
            <a:avLst/>
          </a:prstGeom>
          <a:solidFill>
            <a:srgbClr val="0A1A0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731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Actor 모델 (메시지 패싱)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560320"/>
            <a:ext cx="2194560" cy="1097280"/>
          </a:xfrm>
          <a:prstGeom prst="rect">
            <a:avLst/>
          </a:prstGeom>
          <a:solidFill>
            <a:srgbClr val="003D1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560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Player Actor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📬 메시지 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1344168"/>
            <a:ext cx="5943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55080" y="1188720"/>
            <a:ext cx="1005840" cy="292608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60920" y="1344168"/>
            <a:ext cx="0" cy="176479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63440" y="173736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7373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1938528"/>
            <a:ext cx="5943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55080" y="1783080"/>
            <a:ext cx="1005840" cy="292608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60920" y="1938528"/>
            <a:ext cx="0" cy="117043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663440" y="2331720"/>
            <a:ext cx="1097280" cy="411480"/>
          </a:xfrm>
          <a:prstGeom prst="rect">
            <a:avLst/>
          </a:prstGeom>
          <a:solidFill>
            <a:srgbClr val="607B94">
              <a:alpha val="5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Thread 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2532888"/>
            <a:ext cx="5943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55080" y="2377440"/>
            <a:ext cx="1005840" cy="292608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377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60920" y="2532888"/>
            <a:ext cx="0" cy="57607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7091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D6A0"/>
                </a:solidFill>
              </a:rPr>
              <a:t>✅  lock 없이 안전!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4480560"/>
            <a:ext cx="8686800" cy="457200"/>
          </a:xfrm>
          <a:prstGeom prst="rect">
            <a:avLst/>
          </a:prstGeom>
          <a:solidFill>
            <a:srgbClr val="132335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💡  핵심 원칙: 각 Actor는 자신만의 큐를 가지며, 큐에서 꺼낸 작업만 실행 → 항상 직렬 실행 보장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직렬 실행의 원리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Channel 큐가 순서를 보장하는 방법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71600" cy="457200"/>
          </a:xfrm>
          <a:prstGeom prst="rect">
            <a:avLst/>
          </a:prstGeom>
          <a:solidFill>
            <a:srgbClr val="00B4D8">
              <a:alpha val="4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Thread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234440"/>
            <a:ext cx="10972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691640" y="1051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1371600" cy="457200"/>
          </a:xfrm>
          <a:prstGeom prst="rect">
            <a:avLst/>
          </a:prstGeom>
          <a:solidFill>
            <a:srgbClr val="F77F00">
              <a:alpha val="40000"/>
            </a:srgbClr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7F00"/>
                </a:solidFill>
              </a:rPr>
              <a:t>Thread 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1965960"/>
            <a:ext cx="1097280" cy="0"/>
          </a:xfrm>
          <a:prstGeom prst="line">
            <a:avLst/>
          </a:prstGeom>
          <a:noFill/>
          <a:ln w="1905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69164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1371600" cy="457200"/>
          </a:xfrm>
          <a:prstGeom prst="rect">
            <a:avLst/>
          </a:prstGeom>
          <a:solidFill>
            <a:srgbClr val="9B5DE5">
              <a:alpha val="40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Thread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2697480"/>
            <a:ext cx="1097280" cy="0"/>
          </a:xfrm>
          <a:prstGeom prst="line">
            <a:avLst/>
          </a:prstGeom>
          <a:noFill/>
          <a:ln w="19050">
            <a:solidFill>
              <a:srgbClr val="9B5D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691640" y="2514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777240"/>
            <a:ext cx="3200400" cy="256032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97480" y="804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Channel&lt;JobEntry&gt;  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1234440"/>
            <a:ext cx="713232" cy="173736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234440"/>
            <a:ext cx="713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Job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(A)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38728" y="1234440"/>
            <a:ext cx="713232" cy="1737360"/>
          </a:xfrm>
          <a:prstGeom prst="rect">
            <a:avLst/>
          </a:prstGeom>
          <a:solidFill>
            <a:srgbClr val="F77F00">
              <a:alpha val="4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234440"/>
            <a:ext cx="713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</a:rPr>
              <a:t>Job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</a:rPr>
              <a:t>(B)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88536" y="1234440"/>
            <a:ext cx="713232" cy="1737360"/>
          </a:xfrm>
          <a:prstGeom prst="rect">
            <a:avLst/>
          </a:prstGeom>
          <a:solidFill>
            <a:srgbClr val="9B5DE5">
              <a:alpha val="4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8536" y="1234440"/>
            <a:ext cx="713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</a:rPr>
              <a:t>Job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</a:rPr>
              <a:t>(C)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38344" y="1234440"/>
            <a:ext cx="713232" cy="1737360"/>
          </a:xfrm>
          <a:prstGeom prst="rect">
            <a:avLst/>
          </a:prstGeom>
          <a:solidFill>
            <a:srgbClr val="607B94">
              <a:alpha val="4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1234440"/>
            <a:ext cx="713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7B94"/>
                </a:solidFill>
              </a:rPr>
              <a:t>Job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07B94"/>
                </a:solidFill>
              </a:rPr>
              <a:t>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88920" y="3108960"/>
            <a:ext cx="30175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576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</a:rPr>
              <a:t>← 순서대로 처리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777240"/>
            <a:ext cx="2834640" cy="256032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804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⚙️  Flush 루프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216152"/>
            <a:ext cx="2651760" cy="384048"/>
          </a:xfrm>
          <a:prstGeom prst="rect">
            <a:avLst/>
          </a:prstGeom>
          <a:solidFill>
            <a:srgbClr val="0A2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216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Job 1 실행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1600200"/>
            <a:ext cx="0" cy="109728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1673352"/>
            <a:ext cx="2651760" cy="384048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6733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Job 2 실행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2057400"/>
            <a:ext cx="0" cy="109728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126480" y="2130552"/>
            <a:ext cx="2651760" cy="384048"/>
          </a:xfrm>
          <a:prstGeom prst="rect">
            <a:avLst/>
          </a:prstGeom>
          <a:solidFill>
            <a:srgbClr val="0A2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130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Job 3 실행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2514600"/>
            <a:ext cx="0" cy="109728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26480" y="2587752"/>
            <a:ext cx="2651760" cy="384048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</a:rPr>
              <a:t>Job 4 실행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52160" y="2103120"/>
            <a:ext cx="182880" cy="0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28600" y="3657600"/>
            <a:ext cx="8686800" cy="123444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657600"/>
            <a:ext cx="10972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보장하는 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" y="4005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</a:rPr>
              <a:t>✅  같은 Actor의 작업은 항상 한 번에 하나씩 실행 (직렬)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</a:rPr>
              <a:t>✅  여러 스레드가 동시에 DoAsync 호출해도 내부에서 순서 보장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11480" y="45902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</a:rPr>
              <a:t>✅  상태 변경은 큐 안에서만 → lock 필요 없음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10972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내부 구조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606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AsyncExecutable부터 JobDispatcher까지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AsyncExecutable — 핵심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모든 Actor의 기반 클래스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777240"/>
            <a:ext cx="3291840" cy="1005840"/>
          </a:xfrm>
          <a:prstGeom prst="rect">
            <a:avLst/>
          </a:prstGeom>
          <a:solidFill>
            <a:srgbClr val="1B2F44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0" y="777240"/>
            <a:ext cx="32918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7863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AsyncExecutable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1133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C4DE"/>
                </a:solidFill>
              </a:rPr>
              <a:t>(abstract class)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965960"/>
            <a:ext cx="201168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965960"/>
            <a:ext cx="20116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75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DoAsync(Action)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람다 작업 즉시 등록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큐에 추가 후 빠른 반환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2039112"/>
            <a:ext cx="50292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039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hot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188720" y="1965960"/>
            <a:ext cx="33832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331720" y="1965960"/>
            <a:ext cx="201168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31720" y="1965960"/>
            <a:ext cx="201168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075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231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DoAsync&lt;T&gt;(action,state)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2316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클로저 없는 최적화 버전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GC 압박 최소화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2039112"/>
            <a:ext cx="502920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039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perf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1965960"/>
            <a:ext cx="123444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80560" y="1965960"/>
            <a:ext cx="201168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1965960"/>
            <a:ext cx="201168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075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DoAsyncAfter(delay,action)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N ms 후 자동 실행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자기복제 패턴에 활용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965960"/>
            <a:ext cx="0" cy="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629400" y="1965960"/>
            <a:ext cx="201168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29400" y="1965960"/>
            <a:ext cx="201168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075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208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RemainingTaskCount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큐 깊이 실시간 조회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모니터링/OOM 방어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35240" y="1965960"/>
            <a:ext cx="0" cy="0"/>
          </a:xfrm>
          <a:prstGeom prst="line">
            <a:avLst/>
          </a:prstGeom>
          <a:noFill/>
          <a:ln w="12700">
            <a:solidFill>
              <a:srgbClr val="9B5DE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82880" y="4023360"/>
            <a:ext cx="8778240" cy="685800"/>
          </a:xfrm>
          <a:prstGeom prst="rect">
            <a:avLst/>
          </a:prstGeom>
          <a:solidFill>
            <a:srgbClr val="0A0A1A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233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📌  static:  AcceptingWork  (전역 입력 차단)   |   OnError  (전역 예외 핸들러)   |   MaxFlushSpinIterations  (CPU 튜닝)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DoTask — 직렬 실행의 핵심 알고리즘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코드 한 줄씩 흐름 추적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DoTask(job) 호출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1188720"/>
            <a:ext cx="0" cy="246888"/>
          </a:xfrm>
          <a:prstGeom prst="line">
            <a:avLst/>
          </a:prstGeom>
          <a:noFill/>
          <a:ln w="1905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" y="1435608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35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Increment(count)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1847088"/>
            <a:ext cx="0" cy="246888"/>
          </a:xfrm>
          <a:prstGeom prst="line">
            <a:avLst/>
          </a:prstGeom>
          <a:noFill/>
          <a:ln w="1905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" y="2093976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939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&gt; 1 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7523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큐에만 넣기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3163824"/>
            <a:ext cx="0" cy="246888"/>
          </a:xfrm>
          <a:prstGeom prst="line">
            <a:avLst/>
          </a:prstGeom>
          <a:noFill/>
          <a:ln w="1905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3410712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107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CurrentExecuter != null 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ExecuterQueue에 추가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4480560"/>
            <a:ext cx="0" cy="246888"/>
          </a:xfrm>
          <a:prstGeom prst="line">
            <a:avLst/>
          </a:prstGeom>
          <a:noFill/>
          <a:ln w="1905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4320" y="4727448"/>
            <a:ext cx="2011680" cy="411480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Flush() 실행!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22037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77F00"/>
                </a:solidFill>
              </a:rPr>
              <a:t>YES →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0" y="25237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D6A0"/>
                </a:solidFill>
              </a:rPr>
              <a:t>NO 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0" y="2299716"/>
            <a:ext cx="502920" cy="0"/>
          </a:xfrm>
          <a:prstGeom prst="line">
            <a:avLst/>
          </a:prstGeom>
          <a:noFill/>
          <a:ln w="1905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88920" y="2299716"/>
            <a:ext cx="0" cy="452628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88920" y="27523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77F00"/>
                </a:solidFill>
              </a:rPr>
              <a:t>다른 Flush가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F77F00"/>
                </a:solidFill>
              </a:rPr>
              <a:t>처리해줌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3172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5DE5"/>
                </a:solidFill>
              </a:rPr>
              <a:t>YES 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4300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D6A0"/>
                </a:solidFill>
              </a:rPr>
              <a:t>NO ↓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0" y="3616452"/>
            <a:ext cx="502920" cy="0"/>
          </a:xfrm>
          <a:prstGeom prst="line">
            <a:avLst/>
          </a:prstGeom>
          <a:noFill/>
          <a:ln w="19050">
            <a:solidFill>
              <a:srgbClr val="9B5DE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788920" y="3616452"/>
            <a:ext cx="0" cy="452628"/>
          </a:xfrm>
          <a:prstGeom prst="line">
            <a:avLst/>
          </a:prstGeom>
          <a:noFill/>
          <a:ln w="12700">
            <a:solidFill>
              <a:srgbClr val="9B5D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8892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B5DE5"/>
                </a:solidFill>
              </a:rPr>
              <a:t>나중에 처리됨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54680" y="731520"/>
            <a:ext cx="5760720" cy="416052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731520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7406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4408" y="96012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핵심: 원자적 카운터로 직렬 보장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(Increment(count) &gt;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이미 처리 중 → 큐에만 넣기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_queue.TryWrite(job);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_queue.TryWrite(job);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(CurrentExecuter !=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ExecuterQueue.Enqueue(this);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CurrentExecuter = this;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Flush(); // ← 직접 처리!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풀링 &amp; DoAsync vs DoAsync&lt;T&gt;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GC 압박을 없애는 오브젝트 재사용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8686800" cy="594360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7F00"/>
                </a:solidFill>
              </a:rPr>
              <a:t>⚠️  초당 100,000번 DoAsync 호출 = 람다(클로저) 객체 100,000개 생성 → GC 압박 → 게임 서버 수십ms 멈춤!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4114800" cy="320040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📦  ConcurrentBag&lt;Job&gt;  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097280" cy="45720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Job 객체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0" y="1920240"/>
            <a:ext cx="1097280" cy="45720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Job 객체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34640" y="2468880"/>
            <a:ext cx="1097280" cy="457200"/>
          </a:xfrm>
          <a:prstGeom prst="rect">
            <a:avLst/>
          </a:prstGeom>
          <a:solidFill>
            <a:srgbClr val="F77F00">
              <a:alpha val="5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77F00"/>
                </a:solidFill>
              </a:rPr>
              <a:t>Job 객체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097280" cy="45720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Job 객체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0" y="3017520"/>
            <a:ext cx="1097280" cy="457200"/>
          </a:xfrm>
          <a:prstGeom prst="rect">
            <a:avLst/>
          </a:prstGeom>
          <a:solidFill>
            <a:srgbClr val="607B94">
              <a:alpha val="3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B94"/>
                </a:solidFill>
              </a:rPr>
              <a:t>(비어있음)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834640" y="3017520"/>
            <a:ext cx="1097280" cy="457200"/>
          </a:xfrm>
          <a:prstGeom prst="rect">
            <a:avLst/>
          </a:prstGeom>
          <a:solidFill>
            <a:srgbClr val="607B94">
              <a:alpha val="30000"/>
            </a:srgbClr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B94"/>
                </a:solidFill>
              </a:rPr>
              <a:t>(비어있음)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Rent() ↓   빌리기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</a:rPr>
              <a:t>Return() ↑  반납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B94"/>
                </a:solidFill>
              </a:rPr>
              <a:t>MaxPoolSize = 16,384 (초과 시 GC에 위임)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1417320"/>
            <a:ext cx="2103120" cy="320040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1417320"/>
            <a:ext cx="2103120" cy="411480"/>
          </a:xfrm>
          <a:prstGeom prst="rect">
            <a:avLst/>
          </a:prstGeom>
          <a:solidFill>
            <a:srgbClr val="F77F00">
              <a:alpha val="6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4538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 (람다)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1673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77F00"/>
                </a:solidFill>
              </a:rPr>
              <a:t>일반 방법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✅  코드 간결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3946"/>
                </a:solidFill>
              </a:rPr>
              <a:t>❌  클로저 힙 할당!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2432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3946"/>
                </a:solidFill>
              </a:rPr>
              <a:t>❌  GC 압박 높음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3063240"/>
            <a:ext cx="1920240" cy="137160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player.DoAsync(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() =&gt; player.Move(x, y));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75120" y="1417320"/>
            <a:ext cx="2103120" cy="320040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75120" y="1417320"/>
            <a:ext cx="2103120" cy="411480"/>
          </a:xfrm>
          <a:prstGeom prst="rect">
            <a:avLst/>
          </a:prstGeom>
          <a:solidFill>
            <a:srgbClr val="06D6A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4538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DoAsync&lt;TState&gt;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1673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최적화 방법 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656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✅  static 람다 → 할당 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0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✅  Job&lt;T&gt; 풀 재사용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66560" y="24323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</a:rPr>
              <a:t>✅  GC 압박 없음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3063240"/>
            <a:ext cx="1920240" cy="137160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108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player.DoAsync&lt;(float X, float Y)&gt;(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static s =&gt; player.Move(s.X,s.Y),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(newX, newY));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TimerQueue — 지연 실행 메커니즘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워커 스레드에서 안전하게 타이머 실행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82296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DoAsyncAfter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(5초, action)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06040" y="1005840"/>
            <a:ext cx="2011680" cy="82296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05840"/>
            <a:ext cx="2011680" cy="1097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</a:rPr>
              <a:t>TimerQueue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</a:rPr>
              <a:t>ScheduleTask()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274320" cy="0"/>
          </a:xfrm>
          <a:prstGeom prst="line">
            <a:avLst/>
          </a:prstGeom>
          <a:noFill/>
          <a:ln w="2540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37760" y="1005840"/>
            <a:ext cx="2011680" cy="82296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005840"/>
            <a:ext cx="2011680" cy="10972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</a:rPr>
              <a:t>PriorityQueue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</a:rPr>
              <a:t>(dueTime 정렬)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274320" cy="0"/>
          </a:xfrm>
          <a:prstGeom prst="line">
            <a:avLst/>
          </a:prstGeom>
          <a:noFill/>
          <a:ln w="25400">
            <a:solidFill>
              <a:srgbClr val="9B5D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005840"/>
            <a:ext cx="1600200" cy="822960"/>
          </a:xfrm>
          <a:prstGeom prst="rect">
            <a:avLst/>
          </a:prstGeom>
          <a:solidFill>
            <a:srgbClr val="1B2F44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9480" y="1005840"/>
            <a:ext cx="160020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143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</a:rPr>
              <a:t>5초 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</a:rPr>
              <a:t>만료!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057400"/>
            <a:ext cx="8686800" cy="2560320"/>
          </a:xfrm>
          <a:prstGeom prst="rect">
            <a:avLst/>
          </a:prstGeom>
          <a:solidFill>
            <a:srgbClr val="1B2F44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03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왜 TimerDispatchQueue를 거치나? (핵심!)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514600"/>
            <a:ext cx="3931920" cy="192024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❌  직접 실행 (잘못된 방법)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PeriodicTimer (ThreadPool 스레드)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owner.DoTask(job) 직접 호출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Flush()가 ThreadPool에서 실행!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ThreadContext.TickCount = 0 (잘못됨)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'전용 워커에서만 실행' 약속 깨짐! 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4023360" cy="1920240"/>
          </a:xfrm>
          <a:prstGeom prst="rect">
            <a:avLst/>
          </a:prstGeom>
          <a:solidFill>
            <a:srgbClr val="0A1A0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✅  TimerDispatchQueue 경유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PeriodicTimer (ThreadPool 스레드)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TimerDispatchQueue.Enqueue(owner, job)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워커 스레드 Run() 루프에서 드레인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owner.DoTask(job)  ← 워커에서!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→ Flush()가 워커 스레드에서 실행 ✅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JobDispatcher&lt;T&gt; + IRunnable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전용 OS 스레드 관리와 워커 수퍼바이저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206240" cy="420624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42062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워커 스레드 Run() 루프 — 매 틱 3단계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384048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1️⃣ TickCount 갱신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ThreadLocal에 현재 ms 저장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워커별 주기 작업에 활용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148840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384048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</a:rPr>
              <a:t>2️⃣ Timer 드레인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TimerDispatchQueue 최대 256개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만료 타이머 작업 실행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3246120"/>
            <a:ext cx="0" cy="91440"/>
          </a:xfrm>
          <a:prstGeom prst="line">
            <a:avLst/>
          </a:prstGeom>
          <a:noFill/>
          <a:ln w="1905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" y="3337560"/>
            <a:ext cx="384048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3️⃣ IRunnable.Run()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GameWorker/ChatWorker 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실제 비즈니스 로직 실행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685800"/>
            <a:ext cx="4297680" cy="4206240"/>
          </a:xfrm>
          <a:prstGeom prst="rect">
            <a:avLst/>
          </a:prstGeom>
          <a:solidFill>
            <a:srgbClr val="1B2F44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685800"/>
            <a:ext cx="4297680" cy="3657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713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워커 수퍼바이저 (자동 재기동)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1B2F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워커 종료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1600200"/>
            <a:ext cx="0" cy="457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1691640"/>
            <a:ext cx="4023360" cy="45720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정상 종료?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148840"/>
            <a:ext cx="0" cy="4572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54880" y="2331720"/>
            <a:ext cx="4023360" cy="45720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재기동 정책 ON?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2788920"/>
            <a:ext cx="0" cy="4572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2971800"/>
            <a:ext cx="4023360" cy="45720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</a:rPr>
              <a:t>횟수 한도 이내?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3429000"/>
            <a:ext cx="0" cy="4572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754880" y="3611880"/>
            <a:ext cx="4023360" cy="457200"/>
          </a:xfrm>
          <a:prstGeom prst="rect">
            <a:avLst/>
          </a:prstGeom>
          <a:solidFill>
            <a:srgbClr val="0A1A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지수 백오프 대기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</a:rPr>
              <a:t>→ 새 스레드 시작 ✅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82396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YES →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완료카운트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82396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YES →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06D6A0"/>
                </a:solidFill>
              </a:rPr>
              <a:t>완료카운트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82396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63946"/>
                </a:solidFill>
              </a:rPr>
              <a:t>NO →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E63946"/>
                </a:solidFill>
              </a:rPr>
              <a:t>영구정지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4160520"/>
            <a:ext cx="411480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160520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696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64608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지수 백오프 계산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= backoff × 2^(attempts-1)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1회: 1s  2회: 2s  3회: 4s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MaxRestartsPerWorker = 5  // 기본값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Sequencer&lt;T&gt; — 패킷 순서 보장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CAS로 단 하나의 드레이너만 허용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4114800" cy="228600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</a:rPr>
              <a:t>❌  Sequencer 없을 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1280160" cy="411480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IO Thread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0" y="1316736"/>
            <a:ext cx="457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148840" y="1161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EnterZone 패킷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1280160" cy="411480"/>
          </a:xfrm>
          <a:prstGeom prst="rect">
            <a:avLst/>
          </a:prstGeom>
          <a:solidFill>
            <a:srgbClr val="F77F00">
              <a:alpha val="4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7F00"/>
                </a:solidFill>
              </a:rPr>
              <a:t>IO Thread 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1865376"/>
            <a:ext cx="457200" cy="0"/>
          </a:xfrm>
          <a:prstGeom prst="line">
            <a:avLst/>
          </a:prstGeom>
          <a:noFill/>
          <a:ln w="1905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148840" y="1709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7F00"/>
                </a:solidFill>
              </a:rPr>
              <a:t>Move 패킷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316736"/>
            <a:ext cx="0" cy="640080"/>
          </a:xfrm>
          <a:prstGeom prst="line">
            <a:avLst/>
          </a:prstGeom>
          <a:noFill/>
          <a:ln w="12700">
            <a:solidFill>
              <a:srgbClr val="607B9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78892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actor.DoAsync  동시 호출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solidFill>
            <a:srgbClr val="3D000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</a:rPr>
              <a:t>Channel 안에서 Move → EnterZone 역전!  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713232"/>
            <a:ext cx="4297680" cy="2286000"/>
          </a:xfrm>
          <a:prstGeom prst="rect">
            <a:avLst/>
          </a:prstGeom>
          <a:solidFill>
            <a:srgbClr val="0A1A0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 Sequencer 사용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201168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15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ConcurrentQueue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1444752"/>
            <a:ext cx="1828800" cy="365760"/>
          </a:xfrm>
          <a:prstGeom prst="rect">
            <a:avLst/>
          </a:prstGeom>
          <a:solidFill>
            <a:srgbClr val="00B4D8">
              <a:alpha val="4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EnterZone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1901952"/>
            <a:ext cx="1828800" cy="365760"/>
          </a:xfrm>
          <a:prstGeom prst="rect">
            <a:avLst/>
          </a:prstGeom>
          <a:solidFill>
            <a:srgbClr val="00B4D8">
              <a:alpha val="4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Move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20840" y="1874520"/>
            <a:ext cx="45720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78040" y="1600200"/>
            <a:ext cx="1600200" cy="54864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CAS 락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단 하나만!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73568" y="2148840"/>
            <a:ext cx="0" cy="50292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2651760"/>
            <a:ext cx="1600200" cy="228600"/>
          </a:xfrm>
          <a:prstGeom prst="rect">
            <a:avLst/>
          </a:prstGeom>
          <a:solidFill>
            <a:srgbClr val="0A1A0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D6A0"/>
                </a:solidFill>
              </a:rPr>
              <a:t>Drain 실행 (순서 보장!)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8600" y="3154680"/>
            <a:ext cx="8686800" cy="914400"/>
          </a:xfrm>
          <a:prstGeom prst="rect">
            <a:avLst/>
          </a:prstGeom>
          <a:solidFill>
            <a:srgbClr val="1B2F44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00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🔑  CAS (Compare-And-Swap) 원리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133088"/>
            <a:ext cx="8503920" cy="77724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33088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42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9768" y="43616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_drainScheduled: 0=없음, 1=예약됨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(CompareExchange(ref _drainScheduled, 1, 0) !=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return;  // 이미 누군가 예약 중 → 내 일 없음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_scheduleDrain(Drain); // 워커 큐에 딱 1번만 추가!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10972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예제 프로젝트 분석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606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4개의 예제로 배우는 실전 패턴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ExampleConsoleApp — 기본기 익히기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세 가지 예제로 핵심 패턴 이해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834640" cy="4297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50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BasicExample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DoAsync — 즉시 실행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DoAsyncAfter — 500ms 후 실행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Actor 내에서 자기 자신에게 DoAsync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TaskCompletionSource로 결과 회수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2651760" cy="201168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testObject.DoAsync(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() =&gt; testObject.TestFunc0());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testObject.DoAsyncAfter(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TimeSpan.FromMilliseconds(500),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() =&gt; testObject.TestFunc1(15));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54680" y="731520"/>
            <a:ext cx="2834640" cy="429768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04672"/>
            <a:ext cx="502920" cy="5029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850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WorkerThreadExample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389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IRunnable + JobDispatcher&lt;T&gt;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4개 전용 OS 스레드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29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여러 Worker → 같은 TestObject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350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Run() false 반환 → 해당 워커만 종료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201168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98648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using var dispatcher 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new JobDispatcher&lt;TestWorkerThread&gt;(4);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= dispatcher.RunWorkerThreadsAsync();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Task.Delay(5000);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dispatcher.DisposeAsync();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731520"/>
            <a:ext cx="2834640" cy="4297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804672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850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AdvancedExample (Actor)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389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DataProcessor: lock 0개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7099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읽기도 DoAsync로 큐 통과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20299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TCS로 비동기 결과 회수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350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우선순위 기반 후속 작업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834640"/>
            <a:ext cx="2651760" cy="201168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898648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읽기도 큐를 통과!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Task&lt;Dict&gt; GetStatsAsync()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var tcs = new TCS&lt;Dict&gt;();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DoAsync(() =&gt;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tcs.SetResult(new Dict(_data)));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tcs.Task;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ExampleChatServer — Actor 기반 채팅 서버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세 Actor의 협업 구조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560320" cy="3474720"/>
          </a:xfrm>
          <a:prstGeom prst="rect">
            <a:avLst/>
          </a:prstGeom>
          <a:solidFill>
            <a:srgbClr val="1B2F44"/>
          </a:solidFill>
          <a:ln w="317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5603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사용자/방 딕셔너리 관리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Handle*/Process* 패턴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자기복제 Heartbeat x2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GetSnapshot 패턴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228600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⏰  5s Stats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10s Idle Scan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228600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914400"/>
            <a:ext cx="2560320" cy="3474720"/>
          </a:xfrm>
          <a:prstGeom prst="rect">
            <a:avLst/>
          </a:prstGeom>
          <a:solidFill>
            <a:srgbClr val="1B2F44"/>
          </a:solidFill>
          <a:ln w="317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14400"/>
            <a:ext cx="2560320" cy="5486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방 내 사용자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BroadcastChat → 전파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AddUser/RemoveUser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Heartbeat (15s)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286000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F77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7F00"/>
                </a:solidFill>
              </a:rPr>
              <a:t>⏰  15s 인원수 알림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2286000"/>
            <a:ext cx="365760" cy="0"/>
          </a:xfrm>
          <a:prstGeom prst="line">
            <a:avLst/>
          </a:prstGeom>
          <a:noFill/>
          <a:ln w="2540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914400"/>
            <a:ext cx="2560320" cy="3474720"/>
          </a:xfrm>
          <a:prstGeom prst="rect">
            <a:avLst/>
          </a:prstGeom>
          <a:solidFill>
            <a:srgbClr val="1B2F44"/>
          </a:solidFill>
          <a:ln w="317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914400"/>
            <a:ext cx="2560320" cy="548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960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메시지 전달(네트워크)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55080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마지막 활동 시각 기록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유휴 감지 후 자동 종료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2807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▸  GetSnapshot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03920" cy="457200"/>
          </a:xfrm>
          <a:prstGeom prst="rect">
            <a:avLst/>
          </a:prstGeom>
          <a:solidFill>
            <a:srgbClr val="132335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📬  InboundCommands  큐  ←  NetworkSimulator  →  ChatWorker.Run()  →  ChatServer.HandleX()  →  Actor 큐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메시지 처리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"안녕!"이 전달되는 6단계 여정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607B9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71600" cy="73152"/>
          </a:xfrm>
          <a:prstGeom prst="rect">
            <a:avLst/>
          </a:prstGeom>
          <a:solidFill>
            <a:srgbClr val="607B94"/>
          </a:solidFill>
          <a:ln w="12700">
            <a:solidFill>
              <a:srgbClr val="607B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051560"/>
            <a:ext cx="502920" cy="502920"/>
          </a:xfrm>
          <a:prstGeom prst="ellipse">
            <a:avLst/>
          </a:prstGeom>
          <a:solidFill>
            <a:srgbClr val="607B94">
              <a:alpha val="60000"/>
            </a:srgbClr>
          </a:solidFill>
          <a:ln w="25400">
            <a:solidFill>
              <a:srgbClr val="607B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B94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7B94"/>
                </a:solidFill>
              </a:rPr>
              <a:t>클라이언트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"안녕!"을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general 방에 전송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00200" y="2331720"/>
            <a:ext cx="91440" cy="0"/>
          </a:xfrm>
          <a:prstGeom prst="line">
            <a:avLst/>
          </a:prstGeom>
          <a:noFill/>
          <a:ln w="2540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9164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91640" y="960120"/>
            <a:ext cx="1371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0552" y="1051560"/>
            <a:ext cx="502920" cy="502920"/>
          </a:xfrm>
          <a:prstGeom prst="ellipse">
            <a:avLst/>
          </a:prstGeom>
          <a:solidFill>
            <a:srgbClr val="00B4D8">
              <a:alpha val="6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4884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InboundCommands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Action으로 래핑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Worker 큐에 push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63240" y="2331720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960120"/>
            <a:ext cx="137160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93592" y="1051560"/>
            <a:ext cx="502920" cy="502920"/>
          </a:xfrm>
          <a:prstGeom prst="ellipse">
            <a:avLst/>
          </a:prstGeom>
          <a:solidFill>
            <a:srgbClr val="F77F00">
              <a:alpha val="60000"/>
            </a:srgbClr>
          </a:solidFill>
          <a:ln w="254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F00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004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</a:rPr>
              <a:t>ChatServer 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ProcessRoomChat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실행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26280" y="2331720"/>
            <a:ext cx="91440" cy="0"/>
          </a:xfrm>
          <a:prstGeom prst="line">
            <a:avLst/>
          </a:prstGeom>
          <a:noFill/>
          <a:ln w="2540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1772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960120"/>
            <a:ext cx="13716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6632" y="1051560"/>
            <a:ext cx="502920" cy="502920"/>
          </a:xfrm>
          <a:prstGeom prst="ellipse">
            <a:avLst/>
          </a:prstGeom>
          <a:solidFill>
            <a:srgbClr val="9B5DE5">
              <a:alpha val="60000"/>
            </a:srgbClr>
          </a:solidFill>
          <a:ln w="25400">
            <a:solidFill>
              <a:srgbClr val="9B5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DE5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6344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DE5"/>
                </a:solidFill>
              </a:rPr>
              <a:t>Room 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ProcessBroadcastChat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각 User에게 전달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2331720"/>
            <a:ext cx="91440" cy="0"/>
          </a:xfrm>
          <a:prstGeom prst="line">
            <a:avLst/>
          </a:prstGeom>
          <a:noFill/>
          <a:ln w="25400">
            <a:solidFill>
              <a:srgbClr val="9B5DE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8076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960120"/>
            <a:ext cx="13716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9672" y="1051560"/>
            <a:ext cx="502920" cy="502920"/>
          </a:xfrm>
          <a:prstGeom prst="ellipse">
            <a:avLst/>
          </a:prstGeom>
          <a:solidFill>
            <a:srgbClr val="06D6A0">
              <a:alpha val="6000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3796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2648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User 큐 (×n)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ProcessDeliverMessage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병렬 전송!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52360" y="2331720"/>
            <a:ext cx="9144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543800" y="960120"/>
            <a:ext cx="1371600" cy="2743200"/>
          </a:xfrm>
          <a:prstGeom prst="rect">
            <a:avLst/>
          </a:prstGeom>
          <a:solidFill>
            <a:srgbClr val="1B2F44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43800" y="960120"/>
            <a:ext cx="13716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82712" y="1051560"/>
            <a:ext cx="502920" cy="502920"/>
          </a:xfrm>
          <a:prstGeom prst="ellipse">
            <a:avLst/>
          </a:prstGeom>
          <a:solidFill>
            <a:srgbClr val="FFD166">
              <a:alpha val="60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8271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001000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58952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네트워크 전송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89520" y="2532888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client.SendMessage()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E"/>
                </a:solidFill>
              </a:rPr>
              <a:t>User 큐 안에서만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3886200"/>
            <a:ext cx="8686800" cy="1005840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913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✨  병렬 전송의 장점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42245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</a:rPr>
              <a:t>Room은 각 User에게 DeliverMessage를 push하고 즉시 다음 작업으로! 느린 클라이언트가 다른 사람에게 영향을 미치지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ExampleMmorpgServer — MMORPG 게임 서버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GameZone + PlayerActor 이중 구조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5720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🌍  GameZone Actor  (플레이어 관리 · 공격 라우팅 · Spatial 인덱스)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057400" cy="292608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057400" cy="411480"/>
          </a:xfrm>
          <a:prstGeom prst="rect">
            <a:avLst/>
          </a:prstGeom>
          <a:solidFill>
            <a:srgbClr val="F77F00">
              <a:alpha val="4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</a:rPr>
              <a:t>👤 Player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Move(x,y)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MeleeAttack(id)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ReceiveDamage()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StartRegen()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23697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HandleDeath()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584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ProcessRespawn()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1371600"/>
            <a:ext cx="2057400" cy="292608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371600"/>
            <a:ext cx="2057400" cy="411480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👤 Player 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Move(x,y)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MeleeAttack(id)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542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ReceiveDamage()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895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StartRegen()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323697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HandleDeath()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3584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ProcessRespawn()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371600"/>
            <a:ext cx="2057400" cy="292608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71600"/>
            <a:ext cx="2057400" cy="411480"/>
          </a:xfrm>
          <a:prstGeom prst="rect">
            <a:avLst/>
          </a:prstGeom>
          <a:solidFill>
            <a:srgbClr val="9B5DE5">
              <a:alpha val="4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</a:rPr>
              <a:t>👤 Player 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Move(x,y)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MeleeAttack(id)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2542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ReceiveDamage()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28895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StartRegen()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23697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HandleDeath()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584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ProcessRespawn()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95160" y="1371600"/>
            <a:ext cx="2057400" cy="2926080"/>
          </a:xfrm>
          <a:prstGeom prst="rect">
            <a:avLst/>
          </a:prstGeom>
          <a:solidFill>
            <a:srgbClr val="1B2F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95160" y="1371600"/>
            <a:ext cx="2057400" cy="411480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👤 Player 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Move(x,y)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8660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MeleeAttack(id)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86600" y="25420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ReceiveDamage()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086600" y="288950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StartRegen()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86600" y="323697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HandleDeath()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86600" y="358444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ProcessRespawn()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13432" y="2697480"/>
            <a:ext cx="201168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201168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</a:rPr>
              <a:t>공격!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298448" y="4297680"/>
            <a:ext cx="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20040" y="4067680"/>
            <a:ext cx="13716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6D6A0"/>
                </a:solidFill>
              </a:rPr>
              <a:t>3초 후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06D6A0"/>
                </a:solidFill>
              </a:rPr>
              <a:t>자기복제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4434840"/>
            <a:ext cx="8686800" cy="594360"/>
          </a:xfrm>
          <a:prstGeom prst="rect">
            <a:avLst/>
          </a:prstGeom>
          <a:solidFill>
            <a:srgbClr val="1A150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434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 AttackerSnapshot (readonly record struct) — 불변 데이터로 스레드 간 안전 전달: (PlayerId, Name, X, Y, Attack)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근접 공격 처리 — 5단계 Actor 메시지 체인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어떤 스레드에서도 Race 없는 안전한 처리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011680" cy="749808"/>
          </a:xfrm>
          <a:prstGeom prst="rect">
            <a:avLst/>
          </a:prstGeom>
          <a:solidFill>
            <a:srgbClr val="1B2F44"/>
          </a:solidFill>
          <a:ln w="19050">
            <a:solidFill>
              <a:srgbClr val="607B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B94"/>
                </a:solidFill>
              </a:rPr>
              <a:t>①  GameWorker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E"/>
                </a:solidFill>
              </a:rPr>
              <a:t>InboundCommands 드레인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0" y="731520"/>
            <a:ext cx="653796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7772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server.HandleMeleeAttack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("player1", "player2")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1481328"/>
            <a:ext cx="0" cy="91440"/>
          </a:xfrm>
          <a:prstGeom prst="line">
            <a:avLst/>
          </a:prstGeom>
          <a:noFill/>
          <a:ln w="25400">
            <a:solidFill>
              <a:srgbClr val="607B9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" y="1572768"/>
            <a:ext cx="2011680" cy="749808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②  GameZone 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E"/>
                </a:solidFill>
              </a:rPr>
              <a:t>ProcessMeleeAttack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1572768"/>
            <a:ext cx="653796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6184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 = _actors["player1"]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attacker.MeleeAttack("player2", 3.0f)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34440" y="2322576"/>
            <a:ext cx="0" cy="9144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2414016"/>
            <a:ext cx="2011680" cy="749808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7F00"/>
                </a:solidFill>
              </a:rPr>
              <a:t>③  PlayerActor-1 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E"/>
                </a:solidFill>
              </a:rPr>
              <a:t>ProcessMeleeAttack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77440" y="2414016"/>
            <a:ext cx="653796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4597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스냅샷 생성 (불변!)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 = new AttackerSnapshot(...)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zone.SendMeleeDamage("player2", snap, 3f)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34440" y="3163824"/>
            <a:ext cx="0" cy="91440"/>
          </a:xfrm>
          <a:prstGeom prst="line">
            <a:avLst/>
          </a:prstGeom>
          <a:noFill/>
          <a:ln w="25400">
            <a:solidFill>
              <a:srgbClr val="F77F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3255264"/>
            <a:ext cx="2011680" cy="749808"/>
          </a:xfrm>
          <a:prstGeom prst="rect">
            <a:avLst/>
          </a:prstGeom>
          <a:solidFill>
            <a:srgbClr val="1B2F44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00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DE5"/>
                </a:solidFill>
              </a:rPr>
              <a:t>④  GameZone 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E"/>
                </a:solidFill>
              </a:rPr>
              <a:t>SendMeleeDamage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77440" y="3255264"/>
            <a:ext cx="653796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9B5D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30098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_actors 안전 접근!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_actors["player2"]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target.ReceiveMeleeDamage(snap, 3f)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34440" y="4005072"/>
            <a:ext cx="0" cy="91440"/>
          </a:xfrm>
          <a:prstGeom prst="line">
            <a:avLst/>
          </a:prstGeom>
          <a:noFill/>
          <a:ln w="25400">
            <a:solidFill>
              <a:srgbClr val="9B5D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" y="4096512"/>
            <a:ext cx="2011680" cy="749808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42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⑤  PlayerActor-2 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E"/>
                </a:solidFill>
              </a:rPr>
              <a:t>ProcessReceiveMeleeDamage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377440" y="4096512"/>
            <a:ext cx="653796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4142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거리 검증!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(dist &gt; meleeRange)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 = TakeDamage(attacker.Attack)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AdvancedMmorpgServer — 고급 최적화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v2 기능 총집합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4251960" cy="347472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DoAsync&lt;TState&gt; 최적화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115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hot path에서 클로저 없음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GC 압박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078992"/>
            <a:ext cx="2578608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114300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NpcActor.ReceiveDamage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DoAsync&lt;(NpcActor A, AttackerSnapshot Atk, float R)&gt;(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static t =&gt; t.A.ProcessReceiveDamage(t.Atk, t.R),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(this, atk, meleeRange));  // 힙 할당 0!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731520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731520"/>
            <a:ext cx="4251960" cy="347472"/>
          </a:xfrm>
          <a:prstGeom prst="rect">
            <a:avLst/>
          </a:prstGeom>
          <a:solidFill>
            <a:srgbClr val="F77F00">
              <a:alpha val="5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768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JobOptions 큐 제한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115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OOM 방지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악성 패킷 폭주 방어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78992"/>
            <a:ext cx="2578608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14300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JobOptions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MaxQueueSize = 256,  // Player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DropPolicy = DropPolicy.Reject,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OnDropped = (a, _) =&gt;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Log.Warn($"큐 만원 #{a.Id}")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743200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743200"/>
            <a:ext cx="4251960" cy="347472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7797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NPC AI 분산 시작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3127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NPC들이 같은 틱에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몰리지 않게 분산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3090672"/>
            <a:ext cx="2578608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92808" y="315468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ProcessStart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initial = TimeSpan.FromMilliseconds(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Random.Shared.Next(0,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(int)_tickInterval.TotalMilliseconds));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DoAsyncAfter(initial, Tick);  // 분산!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2743200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743200"/>
            <a:ext cx="4251960" cy="347472"/>
          </a:xfrm>
          <a:prstGeom prst="rect">
            <a:avLst/>
          </a:prstGeom>
          <a:solidFill>
            <a:srgbClr val="9B5DE5">
              <a:alpha val="5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7797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셧다운 시퀀스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3127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순서가 중요!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4DE"/>
                </a:solidFill>
              </a:rPr>
              <a:t>우아한 종료 보장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3090672"/>
            <a:ext cx="2578608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54680"/>
            <a:ext cx="2450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AcceptingWork = false;  // ① 입력 차단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_network.Stop();         // ② IO 스레드 종료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_world.Stop();           // ③ Actor drain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_dispatcher.Dispose();   // ④ 워커 정지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TimerRegistry.DisposeAll(); // ⑤ 타이머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NpcActor — AI 상태 머신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DoAsyncAfter 자기복제로 구현한 AI tick 루프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00000" y="411480"/>
            <a:ext cx="1554480" cy="1554480"/>
          </a:xfrm>
          <a:prstGeom prst="ellipse">
            <a:avLst/>
          </a:prstGeom>
          <a:solidFill>
            <a:srgbClr val="00B4D8">
              <a:alpha val="30000"/>
            </a:srgbClr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00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0000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배회/탐지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00000" y="411480"/>
            <a:ext cx="1554480" cy="1554480"/>
          </a:xfrm>
          <a:prstGeom prst="ellipse">
            <a:avLst/>
          </a:prstGeom>
          <a:solidFill>
            <a:srgbClr val="F77F00">
              <a:alpha val="30000"/>
            </a:srgbClr>
          </a:solidFill>
          <a:ln w="3175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000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00000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추적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00000" y="2423160"/>
            <a:ext cx="1554480" cy="1554480"/>
          </a:xfrm>
          <a:prstGeom prst="ellipse">
            <a:avLst/>
          </a:prstGeom>
          <a:solidFill>
            <a:srgbClr val="E63946">
              <a:alpha val="30000"/>
            </a:srgbClr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0000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00000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공격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0000" y="2423160"/>
            <a:ext cx="1554480" cy="1554480"/>
          </a:xfrm>
          <a:prstGeom prst="ellipse">
            <a:avLst/>
          </a:prstGeom>
          <a:solidFill>
            <a:srgbClr val="9B5DE5">
              <a:alpha val="30000"/>
            </a:srgbClr>
          </a:solidFill>
          <a:ln w="31750">
            <a:solidFill>
              <a:srgbClr val="9B5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00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D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0000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E"/>
                </a:solidFill>
              </a:rPr>
              <a:t>도주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54480" y="411480"/>
            <a:ext cx="445520" cy="1554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391640" y="841248"/>
            <a:ext cx="1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AggroRange 진입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00000" y="1965960"/>
            <a:ext cx="155448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2004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AttackRange 진입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00000" y="2423160"/>
            <a:ext cx="1554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20040" y="2029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사거리 이탈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00000" y="2423160"/>
            <a:ext cx="0" cy="1554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56284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HP &lt; FleeThreshold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0000" y="2423160"/>
            <a:ext cx="1554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5640" y="2029968"/>
            <a:ext cx="7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4초 경과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00000" y="411480"/>
            <a:ext cx="0" cy="1554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391640" y="841248"/>
            <a:ext cx="1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D166"/>
                </a:solidFill>
              </a:rPr>
              <a:t>추적 포기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92040" y="731520"/>
            <a:ext cx="3977640" cy="4251960"/>
          </a:xfrm>
          <a:prstGeom prst="rect">
            <a:avLst/>
          </a:prstGeom>
          <a:solidFill>
            <a:srgbClr val="0A1628"/>
          </a:solidFill>
          <a:ln w="6350">
            <a:solidFill>
              <a:srgbClr val="607B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731520"/>
            <a:ext cx="8229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7406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C#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01768" y="96012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메인 tick (자기복제)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Tick()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(_despawned) return; // 종료 체크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(_world.IsStopping) return;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switch (_state)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case Idle:   TickIdle();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case Chase:  TickChase();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case Attack: TickAttack();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case Flee:   TickFlee(); break;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07B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자기복제 ← 핵심!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DoAsyncAfter(_tickInterval, Tick);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645920"/>
            <a:ext cx="109728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8288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패턴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606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모범 사례와 함정 피하기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5가지 핵심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실전 게임 서버에서 반드시 알아야 할 패턴들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3464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68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✂️ Handle/Process 분리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Handle*(외부 진입) + Process*(실제 처리)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→ 가독성, 디버깅, 테스트 용이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749808"/>
            <a:ext cx="283464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841248"/>
            <a:ext cx="502920" cy="5029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868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</a:rPr>
              <a:t>📸 GetSnapshot 패턴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344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ManualResetEventSlim으로 Actor 외부에서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안전하게 상태 읽기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749808"/>
            <a:ext cx="283464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41248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841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868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💌 Actor→Actor 메시지 패싱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3441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직접 필드 접근 금지!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DoAsync로 메시지만 전달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07208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98648"/>
            <a:ext cx="502920" cy="50292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DE5"/>
                </a:solidFill>
              </a:rPr>
              <a:t>♻️ 자기복제 Heartbeat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DoAsyncAfter로 자기 자신 재예약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_stopped 플래그로 깔끔한 종료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07208"/>
            <a:ext cx="4251960" cy="1920240"/>
          </a:xfrm>
          <a:prstGeom prst="rect">
            <a:avLst/>
          </a:prstGeom>
          <a:solidFill>
            <a:srgbClr val="1B2F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898648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🎯 TCS로 결과 반환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4015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TaskCompletionSource&lt;T&gt; + DoAsync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비동기 결과 회수 패턴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4가지 흔한 함정과 해결책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이것만 피하면 99% 안전합니다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51960" cy="2148840"/>
          </a:xfrm>
          <a:prstGeom prst="rect">
            <a:avLst/>
          </a:prstGeom>
          <a:solidFill>
            <a:srgbClr val="1B2F44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4251960" cy="347472"/>
          </a:xfrm>
          <a:prstGeom prst="rect">
            <a:avLst/>
          </a:prstGeom>
          <a:solidFill>
            <a:srgbClr val="E63946">
              <a:alpha val="6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🐌 함정: 큐 안에서 Thread.Sleep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011680" cy="1645920"/>
          </a:xfrm>
          <a:prstGeom prst="rect">
            <a:avLst/>
          </a:prstGeom>
          <a:solidFill>
            <a:srgbClr val="1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115568"/>
            <a:ext cx="1965960" cy="1645920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33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3946"/>
                </a:solidFill>
              </a:rPr>
              <a:t>❌ Bad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68880" y="1133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D6A0"/>
                </a:solidFill>
              </a:rPr>
              <a:t>✅ Good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325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DoAsync(() =&gt;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Thread.Sleep(1000); // ❌ 큐 블로킹!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ProcessWork();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68880" y="1325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DoAsync(() =&gt; ProcessWorkPart1());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DoAsyncAfter(1s, ProcessWorkPart2);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9160" y="731520"/>
            <a:ext cx="4251960" cy="214884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731520"/>
            <a:ext cx="4251960" cy="347472"/>
          </a:xfrm>
          <a:prstGeom prst="rect">
            <a:avLst/>
          </a:prstGeom>
          <a:solidFill>
            <a:srgbClr val="F77F00">
              <a:alpha val="6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💀 함정: Actor 큐 안에서 GetSnapshot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115568"/>
            <a:ext cx="2011680" cy="1645920"/>
          </a:xfrm>
          <a:prstGeom prst="rect">
            <a:avLst/>
          </a:prstGeom>
          <a:solidFill>
            <a:srgbClr val="1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115568"/>
            <a:ext cx="1965960" cy="1645920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133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3946"/>
                </a:solidFill>
              </a:rPr>
              <a:t>❌ Bad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49440" y="11338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D6A0"/>
                </a:solidFill>
              </a:rPr>
              <a:t>✅ Good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6320" y="1325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ProcessSomething() {  // A 큐 안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var snap = actorB.GetSnapshot();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A 큐 멈춤 → 데드락!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949440" y="1325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ProcessSomething()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actorB.RequestData(this);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B가 결과를 A에게 DoAsync로 전달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4251960" cy="214884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71800"/>
            <a:ext cx="4251960" cy="347472"/>
          </a:xfrm>
          <a:prstGeom prst="rect">
            <a:avLst/>
          </a:prstGeom>
          <a:solidFill>
            <a:srgbClr val="9B5DE5">
              <a:alpha val="6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🧨 함정: 공유 가변 컬렉션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55848"/>
            <a:ext cx="2011680" cy="1645920"/>
          </a:xfrm>
          <a:prstGeom prst="rect">
            <a:avLst/>
          </a:prstGeom>
          <a:solidFill>
            <a:srgbClr val="1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3160" y="3355848"/>
            <a:ext cx="1965960" cy="1645920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74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3946"/>
                </a:solidFill>
              </a:rPr>
              <a:t>❌ Bad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468880" y="33741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D6A0"/>
                </a:solidFill>
              </a:rPr>
              <a:t>✅ Good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3566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Actor 외부에서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actor._items; // ❌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동시에 actor.DoAsync도 실행!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68880" y="3566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읽기도 큐를 통과!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Task&lt;List&lt;T&gt;&gt; GetAsync()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var tcs = new TCS&lt;List&lt;T&gt;&gt;();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DoAsync(() =&gt; tcs.SetResult(...));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tcs.Task;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09160" y="2971800"/>
            <a:ext cx="4251960" cy="2148840"/>
          </a:xfrm>
          <a:prstGeom prst="rect">
            <a:avLst/>
          </a:prstGeom>
          <a:solidFill>
            <a:srgbClr val="1B2F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971800"/>
            <a:ext cx="4251960" cy="34747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🔥 함정: Dispose 순서 오류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355848"/>
            <a:ext cx="2011680" cy="1645920"/>
          </a:xfrm>
          <a:prstGeom prst="rect">
            <a:avLst/>
          </a:prstGeom>
          <a:solidFill>
            <a:srgbClr val="1A0A0A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3355848"/>
            <a:ext cx="1965960" cy="1645920"/>
          </a:xfrm>
          <a:prstGeom prst="rect">
            <a:avLst/>
          </a:prstGeom>
          <a:solidFill>
            <a:srgbClr val="0A1A0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374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3946"/>
                </a:solidFill>
              </a:rPr>
              <a:t>❌ Bad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49440" y="33741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D6A0"/>
                </a:solidFill>
              </a:rPr>
              <a:t>✅ Good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46320" y="3566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dispatcher.Dispose();    // ❌ 워커 먼저!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actor.DisposeAsync().Wait(); // drain 못 함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49440" y="3566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AcceptingWork = false;   // ① 입력 차단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actor.DisposeAsync().Wait(); // ② drain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dispatcher.Dispose();        // ③ 워커 종료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 &amp; 운영 체크리스트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229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E"/>
                </a:solidFill>
              </a:rPr>
              <a:t>서버 운영 전 반드시 확인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4251960" cy="1965960"/>
          </a:xfrm>
          <a:prstGeom prst="rect">
            <a:avLst/>
          </a:prstGeom>
          <a:solidFill>
            <a:srgbClr val="1B2F44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31520"/>
            <a:ext cx="4251960" cy="36576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768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성능 최적화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hot path에 DoAsync&lt;TState&gt; 사용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3990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초당 수천 번 이상 호출 시 필수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Job.MaxPoolSize 튜닝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17830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최대 동시 작업 수 × 1.5~2배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MaxFlushSpinIterations 조정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167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CPU 사용률 vs 응답성 균형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40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NPC 초기 분산 지연 적용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25511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한꺼번에 큐 몰림 방지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731520"/>
            <a:ext cx="4251960" cy="1965960"/>
          </a:xfrm>
          <a:prstGeom prst="rect">
            <a:avLst/>
          </a:prstGeom>
          <a:solidFill>
            <a:srgbClr val="1B2F44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731520"/>
            <a:ext cx="4251960" cy="365760"/>
          </a:xfrm>
          <a:prstGeom prst="rect">
            <a:avLst/>
          </a:prstGeom>
          <a:solidFill>
            <a:srgbClr val="F77F00">
              <a:alpha val="50000"/>
            </a:srgbClr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7680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안전성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261872"/>
            <a:ext cx="182880" cy="1828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MaxQueueSize 설정 (모든 Actor)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13990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OOM 방지, 악성 클라이언트 방어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1645920"/>
            <a:ext cx="182880" cy="1828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JobDispatcherOptions 수퍼바이저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20640" y="17830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RestartFailedWorkers = true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2029968"/>
            <a:ext cx="182880" cy="1828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AcceptingWork=false 셧다운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0" y="2167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입력 차단 → drain → 종료 순서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2414016"/>
            <a:ext cx="182880" cy="1828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340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AttackerSnapshot 불변 구조체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25511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스레드 간 전달 시 항상 복사본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2880360"/>
            <a:ext cx="4251960" cy="1965960"/>
          </a:xfrm>
          <a:prstGeom prst="rect">
            <a:avLst/>
          </a:prstGeom>
          <a:solidFill>
            <a:srgbClr val="1B2F44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880360"/>
            <a:ext cx="4251960" cy="365760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29169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운영 모니터링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41071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JobMetrics.Snapshot() 주기 수집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35478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5~10초마다 메트릭 기록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79476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721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TotalJobsDropped &gt; 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" y="39319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MaxQueueSize 증가 or 처리 병목 확인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178808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05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WorkerRestarts &gt; 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4315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크래시 원인 즉시 조사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456285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89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LiveWorkerCount 모니터링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4700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예상보다 적으면 영구 정지 알림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2880360"/>
            <a:ext cx="4251960" cy="1965960"/>
          </a:xfrm>
          <a:prstGeom prst="rect">
            <a:avLst/>
          </a:prstGeom>
          <a:solidFill>
            <a:srgbClr val="1B2F44"/>
          </a:solidFill>
          <a:ln w="254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2880360"/>
            <a:ext cx="4251960" cy="365760"/>
          </a:xfrm>
          <a:prstGeom prst="rect">
            <a:avLst/>
          </a:prstGeom>
          <a:solidFill>
            <a:srgbClr val="9B5DE5">
              <a:alpha val="5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29169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코드 품질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46320" y="3410712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Handle*/Process* 코딩 컨벤션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20640" y="35478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가독성 &amp; 디버깅 용이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46320" y="3794760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3721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IJobLogger 교체 (Serilog 등)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120640" y="39319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기본 ConsoleJobLogger 대신 상용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4178808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4105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OnError 전역 핸들러 설정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20640" y="4315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예외 알림 시스템 연동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4562856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44897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단위 테스트에서 AcceptingWork 복구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120640" y="4700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07B94"/>
                </a:solidFill>
              </a:rPr>
              <a:t>AcceptingWork=true 후 복구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정리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 줄 요약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B2F44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D166"/>
                </a:solidFill>
              </a:rPr>
              <a:t>"각 객체가 자신만의 큐를 가지고, 그 큐에서만 상태를 변경한다."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0604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Lock-Free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Queue 기반 직렬 실행으로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lock 없이 안전한 상태 관리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971800"/>
            <a:ext cx="260604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고성능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오브젝트 풀링, GC 최소화,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전용 OS 스레드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2971800"/>
            <a:ext cx="2606040" cy="1828800"/>
          </a:xfrm>
          <a:prstGeom prst="rect">
            <a:avLst/>
          </a:prstGeom>
          <a:solidFill>
            <a:srgbClr val="1B2F44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게임 서버 최적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4023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Actor 모델로 복잡한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E"/>
                </a:solidFill>
              </a:rPr>
              <a:t>MMORPG 서버도 간결하게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F:\github\JobDispatcherNET  —  소스코드와 예제는 여기서!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2905</Words>
  <Application>Microsoft Office PowerPoint</Application>
  <PresentationFormat>화면 슬라이드 쇼(16:9)</PresentationFormat>
  <Paragraphs>666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JobDispatcherNET 완전 정복</dc:title>
  <dc:subject>PptxGenJS Presentation</dc:subject>
  <dc:creator>최흥배</dc:creator>
  <cp:lastModifiedBy>흥배 최</cp:lastModifiedBy>
  <cp:revision>2</cp:revision>
  <dcterms:created xsi:type="dcterms:W3CDTF">2026-05-11T15:27:26Z</dcterms:created>
  <dcterms:modified xsi:type="dcterms:W3CDTF">2026-05-11T15:32:27Z</dcterms:modified>
</cp:coreProperties>
</file>